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3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914400"/>
            <a:ext cx="3200400" cy="3200400"/>
          </a:xfrm>
          <a:prstGeom prst="ellipse">
            <a:avLst/>
          </a:prstGeom>
          <a:solidFill>
            <a:srgbClr val="6AB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5029200"/>
            <a:ext cx="2286000" cy="2286000"/>
          </a:xfrm>
          <a:prstGeom prst="ellipse">
            <a:avLst/>
          </a:prstGeom>
          <a:solidFill>
            <a:srgbClr val="6AB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0" y="5303520"/>
            <a:ext cx="1645920" cy="1645920"/>
          </a:xfrm>
          <a:prstGeom prst="ellipse">
            <a:avLst/>
          </a:prstGeom>
          <a:solidFill>
            <a:srgbClr val="6AB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560320"/>
            <a:ext cx="137160" cy="1828800"/>
          </a:xfrm>
          <a:prstGeom prst="rect">
            <a:avLst/>
          </a:prstGeom>
          <a:solidFill>
            <a:srgbClr val="6AB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468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5D6A7"/>
                </a:solidFill>
              </a:rPr>
              <a:t>천호앤케어 (ChunHo N Care)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01752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일본 Qoo10 마케팅
예산 운영 제안서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663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E6C9"/>
                </a:solidFill>
              </a:rPr>
              <a:t>검색 노출 확대 · 신규 고객 유입 · 브랜드 인지도 구축 · 크루 모집 UGC 전략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943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1C784"/>
                </a:solidFill>
              </a:rPr>
              <a:t>2026년 6월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천호앤케어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D6A7"/>
                </a:solidFill>
              </a:rPr>
              <a:t>Japan Qoo10 마케팅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캠페인 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594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E6C9"/>
                </a:solidFill>
              </a:rPr>
              <a:t>Japan Market Entry 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0" y="6629400"/>
            <a:ext cx="758952" cy="228600"/>
          </a:xfrm>
          <a:prstGeom prst="rect">
            <a:avLst/>
          </a:prstGeom>
          <a:solidFill>
            <a:srgbClr val="6AB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3657600" cy="21945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280160"/>
            <a:ext cx="3657600" cy="7315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1731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C38"/>
                </a:solidFill>
              </a:rPr>
              <a:t>🔍 검색 노출 확대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874519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Qoo10 내 키워드 기반 검색 노출 극대화
상위 랭킹 확보로 브랜드 가시성 향상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280160"/>
            <a:ext cx="3657600" cy="21945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280160"/>
            <a:ext cx="3657600" cy="7315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41731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C38"/>
                </a:solidFill>
              </a:rPr>
              <a:t>👥 신규 고객 유입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874519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구매 의도가 높은 고객군 타겟팅
전환율 높은 채널 집중 운영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280160"/>
            <a:ext cx="3657600" cy="21945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280160"/>
            <a:ext cx="3657600" cy="7315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41731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C38"/>
                </a:solidFill>
              </a:rPr>
              <a:t>📣 브랜드 인지도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1874519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SNS 기반 일본 여성 소비자 공략
Instagram · X 동시 운영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840479"/>
            <a:ext cx="3657600" cy="21945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840479"/>
            <a:ext cx="3657600" cy="7315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97763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C38"/>
                </a:solidFill>
              </a:rPr>
              <a:t>🤝 크루(어필리에이터) 모집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43484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UGC 콘텐츠 확보
리뷰 기반 자연 바이럴 확산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3840479"/>
            <a:ext cx="3657600" cy="21945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3840479"/>
            <a:ext cx="3657600" cy="7315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397763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C38"/>
                </a:solidFill>
              </a:rPr>
              <a:t>📈 자연 유입 확대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43484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광고 의존도 단계적 축소
장기적 오가닉 트래픽 구축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천호앤케어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D6A7"/>
                </a:solidFill>
              </a:rPr>
              <a:t>Japan Qoo10 마케팅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Qoo10 광고 ① 키워드 플러스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594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E6C9"/>
                </a:solidFill>
              </a:rPr>
              <a:t>구매 의도 고객 직접 공략 – 가장 높은 전환율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0" y="6629400"/>
            <a:ext cx="758952" cy="228600"/>
          </a:xfrm>
          <a:prstGeom prst="rect">
            <a:avLst/>
          </a:prstGeom>
          <a:solidFill>
            <a:srgbClr val="6AB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5303520" cy="53035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143000"/>
            <a:ext cx="5303520" cy="41148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1704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현재 현황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691640"/>
            <a:ext cx="51206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7556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검색량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7556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A5C38"/>
                </a:solidFill>
              </a:rPr>
              <a:t>1,008회 / 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86000"/>
            <a:ext cx="51206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3500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입찰 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35000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A5C38"/>
                </a:solidFill>
              </a:rPr>
              <a:t>13개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80360"/>
            <a:ext cx="51206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9443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예상 노출 순위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29443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A5C38"/>
                </a:solidFill>
              </a:rPr>
              <a:t>16위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6118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C38"/>
                </a:solidFill>
              </a:rPr>
              <a:t>경쟁 입찰가 현황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023360"/>
            <a:ext cx="5120640" cy="50292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0965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상위권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409651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10,000엔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590288"/>
            <a:ext cx="5120640" cy="50292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6634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중위권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46634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6,000 ~ 7,000엔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157216"/>
            <a:ext cx="5120640" cy="502920"/>
          </a:xfrm>
          <a:prstGeom prst="rect">
            <a:avLst/>
          </a:prstGeom>
          <a:solidFill>
            <a:srgbClr val="6AB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2303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하위권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52303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1,500 ~ 2,000엔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52160" y="1143000"/>
            <a:ext cx="603504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52160" y="1143000"/>
            <a:ext cx="6035040" cy="41148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89320" y="117043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추천 키워드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1691640"/>
            <a:ext cx="5760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43600" y="1691640"/>
            <a:ext cx="64008" cy="6858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17373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C38"/>
                </a:solidFill>
              </a:rPr>
              <a:t>화이트토마토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20116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白トマト / 飲む日焼け止め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2468880"/>
            <a:ext cx="5760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43600" y="2468880"/>
            <a:ext cx="64008" cy="6858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25146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C38"/>
                </a:solidFill>
              </a:rPr>
              <a:t>레몬즙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27889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レモン汁 / レモン水 / デトックス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3246120"/>
            <a:ext cx="5760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943600" y="3246120"/>
            <a:ext cx="64008" cy="6858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0" y="3291839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C38"/>
                </a:solidFill>
              </a:rPr>
              <a:t>녹차카테킨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35661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緑茶カテキン / ダイエット / 脂肪対策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4023360"/>
            <a:ext cx="5760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943600" y="4023360"/>
            <a:ext cx="64008" cy="6858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0" y="40690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C38"/>
                </a:solidFill>
              </a:rPr>
              <a:t>이너뷰티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0" y="43434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インナービューティー / 紫外線対策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52160" y="4983480"/>
            <a:ext cx="6035040" cy="137160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35040" y="50292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예상 월 예산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5040" y="5413248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8C00"/>
                </a:solidFill>
              </a:rPr>
              <a:t>20만원 ~ 30만원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천호앤케어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D6A7"/>
                </a:solidFill>
              </a:rPr>
              <a:t>Japan Qoo10 마케팅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Qoo10 광고 ② 파워 링크업 &amp; 총 예산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594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E6C9"/>
                </a:solidFill>
              </a:rPr>
              <a:t>대표 상품 3개 고정 노출로 브랜드 인지도 확보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0" y="6629400"/>
            <a:ext cx="758952" cy="228600"/>
          </a:xfrm>
          <a:prstGeom prst="rect">
            <a:avLst/>
          </a:prstGeom>
          <a:solidFill>
            <a:srgbClr val="6AB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5486400" cy="53035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143000"/>
            <a:ext cx="5486400" cy="41148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1704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파워 링크업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6916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C38"/>
                </a:solidFill>
              </a:rPr>
              <a:t>노출 기간별 비용 (엔)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103120"/>
            <a:ext cx="5303520" cy="4754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1762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30일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1762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A5C38"/>
                </a:solidFill>
              </a:rPr>
              <a:t>3,000엔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633472"/>
            <a:ext cx="53035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7066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60일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7066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A5C38"/>
                </a:solidFill>
              </a:rPr>
              <a:t>6,000엔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163824"/>
            <a:ext cx="5303520" cy="4754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2369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90일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2369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A5C38"/>
                </a:solidFill>
              </a:rPr>
              <a:t>9,000엔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74903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C38"/>
                </a:solidFill>
              </a:rPr>
              <a:t>추천 운영 상품 (3개)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160520"/>
            <a:ext cx="53035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160520"/>
            <a:ext cx="54864" cy="438912"/>
          </a:xfrm>
          <a:prstGeom prst="rect">
            <a:avLst/>
          </a:prstGeom>
          <a:solidFill>
            <a:srgbClr val="6AB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3367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화이트토마토 (白トマト)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663440"/>
            <a:ext cx="53035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4663440"/>
            <a:ext cx="54864" cy="438912"/>
          </a:xfrm>
          <a:prstGeom prst="rect">
            <a:avLst/>
          </a:prstGeom>
          <a:solidFill>
            <a:srgbClr val="6AB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73659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레몬즙 (レモン汁)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166360"/>
            <a:ext cx="53035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5166360"/>
            <a:ext cx="54864" cy="438912"/>
          </a:xfrm>
          <a:prstGeom prst="rect">
            <a:avLst/>
          </a:prstGeom>
          <a:solidFill>
            <a:srgbClr val="6AB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23951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녹차카테킨 (緑茶カテキン)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715000"/>
            <a:ext cx="5303520" cy="59436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760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30일 × 3개 = 9,000엔 → 월 8~10만원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1143000"/>
            <a:ext cx="585216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35040" y="1143000"/>
            <a:ext cx="5852160" cy="41148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117043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Qoo10 총 광고비 요약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1691640"/>
            <a:ext cx="5669280" cy="59436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18013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항목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18013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예산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2350008"/>
            <a:ext cx="56692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245973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키워드 플러스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2459736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333333"/>
                </a:solidFill>
              </a:rPr>
              <a:t>20 ~ 30만원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3008376"/>
            <a:ext cx="566928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63640" y="311810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파워 링크업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0" y="3118104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333333"/>
                </a:solidFill>
              </a:rPr>
              <a:t>8 ~ 10만원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3666744"/>
            <a:ext cx="5669280" cy="59436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3640" y="37764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합 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0" y="377647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30 ~ 40만원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4754880"/>
            <a:ext cx="5852160" cy="160020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0" y="48006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💡 핵심 포인트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51663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구매 의도가 이미 있는 고객이 검색하는 영역
→ 전환율이 가장 높은 채널
초기 단계에서 가장 중요한 광고 채널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천호앤케어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D6A7"/>
                </a:solidFill>
              </a:rPr>
              <a:t>Japan Qoo10 마케팅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Instagram 마케팅 전략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594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E6C9"/>
                </a:solidFill>
              </a:rPr>
              <a:t>천호앤케어 크루 모집 캠페인 · 일본 여성 타겟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0" y="6629400"/>
            <a:ext cx="758952" cy="228600"/>
          </a:xfrm>
          <a:prstGeom prst="rect">
            <a:avLst/>
          </a:prstGeom>
          <a:solidFill>
            <a:srgbClr val="6AB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5303520" cy="5303520"/>
          </a:xfrm>
          <a:prstGeom prst="rect">
            <a:avLst/>
          </a:prstGeom>
          <a:solidFill>
            <a:srgbClr val="FD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143000"/>
            <a:ext cx="5303520" cy="411480"/>
          </a:xfrm>
          <a:prstGeom prst="rect">
            <a:avLst/>
          </a:prstGeom>
          <a:solidFill>
            <a:srgbClr val="833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1704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크루 모집 캠페인 구조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691640"/>
            <a:ext cx="51206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691640"/>
            <a:ext cx="731520" cy="804672"/>
          </a:xfrm>
          <a:prstGeom prst="rect">
            <a:avLst/>
          </a:prstGeom>
          <a:solidFill>
            <a:srgbClr val="833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1874520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1737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33AB4"/>
                </a:solidFill>
              </a:rPr>
              <a:t>제품 제공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0756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크루 선발 후 제품 무상 지급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587752"/>
            <a:ext cx="51206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587752"/>
            <a:ext cx="731520" cy="804672"/>
          </a:xfrm>
          <a:prstGeom prst="rect">
            <a:avLst/>
          </a:prstGeom>
          <a:solidFill>
            <a:srgbClr val="833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77063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26334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33AB4"/>
                </a:solidFill>
              </a:rPr>
              <a:t>리뷰 작성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2971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사용 후기 콘텐츠 제작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483864"/>
            <a:ext cx="51206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483864"/>
            <a:ext cx="731520" cy="804672"/>
          </a:xfrm>
          <a:prstGeom prst="rect">
            <a:avLst/>
          </a:prstGeom>
          <a:solidFill>
            <a:srgbClr val="833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3666744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52958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33AB4"/>
                </a:solidFill>
              </a:rPr>
              <a:t>릴스 업로드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38679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15~30초 숏폼 영상 게시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379976"/>
            <a:ext cx="51206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379976"/>
            <a:ext cx="731520" cy="804672"/>
          </a:xfrm>
          <a:prstGeom prst="rect">
            <a:avLst/>
          </a:prstGeom>
          <a:solidFill>
            <a:srgbClr val="833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4562856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42569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33AB4"/>
                </a:solidFill>
              </a:rPr>
              <a:t>스토리 업로드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476402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제품 태그 &amp; 링크 공유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276088"/>
            <a:ext cx="51206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5276088"/>
            <a:ext cx="731520" cy="804672"/>
          </a:xfrm>
          <a:prstGeom prst="rect">
            <a:avLst/>
          </a:prstGeom>
          <a:solidFill>
            <a:srgbClr val="833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5458968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5321807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33AB4"/>
                </a:solidFill>
              </a:rPr>
              <a:t>UGC 확보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566013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브랜드 자산으로 활용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52160" y="1143000"/>
            <a:ext cx="6035040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52160" y="1143000"/>
            <a:ext cx="6035040" cy="411480"/>
          </a:xfrm>
          <a:prstGeom prst="rect">
            <a:avLst/>
          </a:prstGeom>
          <a:solidFill>
            <a:srgbClr val="833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89320" y="117043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Meta 광고 타겟팅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1691640"/>
            <a:ext cx="58521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43600" y="1691640"/>
            <a:ext cx="54864" cy="502920"/>
          </a:xfrm>
          <a:prstGeom prst="rect">
            <a:avLst/>
          </a:prstGeom>
          <a:solidFill>
            <a:srgbClr val="833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0" y="17830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일본 여성 20~40대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2258568"/>
            <a:ext cx="58521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43600" y="2258568"/>
            <a:ext cx="54864" cy="502920"/>
          </a:xfrm>
          <a:prstGeom prst="rect">
            <a:avLst/>
          </a:prstGeom>
          <a:solidFill>
            <a:srgbClr val="833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35040" y="235000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뷰티 / 이너뷰티 관심사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2825496"/>
            <a:ext cx="58521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943600" y="2825496"/>
            <a:ext cx="54864" cy="502920"/>
          </a:xfrm>
          <a:prstGeom prst="rect">
            <a:avLst/>
          </a:prstGeom>
          <a:solidFill>
            <a:srgbClr val="833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35040" y="2916936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다이어트 / 건강식품 관심사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52160" y="3840480"/>
            <a:ext cx="6035040" cy="2560320"/>
          </a:xfrm>
          <a:prstGeom prst="rect">
            <a:avLst/>
          </a:prstGeom>
          <a:solidFill>
            <a:srgbClr val="FD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852160" y="3840480"/>
            <a:ext cx="6035040" cy="41148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89320" y="386791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예산 구성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43600" y="4343400"/>
            <a:ext cx="5852160" cy="475488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80760" y="44256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항목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61120" y="442569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예산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0" y="4873752"/>
            <a:ext cx="58521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80760" y="49560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모집 광고 집행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61120" y="49560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33333"/>
                </a:solidFill>
              </a:rPr>
              <a:t>20 ~ 30만원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0" y="5404104"/>
            <a:ext cx="5852160" cy="475488"/>
          </a:xfrm>
          <a:prstGeom prst="rect">
            <a:avLst/>
          </a:prstGeom>
          <a:solidFill>
            <a:srgbClr val="FD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80760" y="5486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제품 제공 비용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61120" y="54864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33333"/>
                </a:solidFill>
              </a:rPr>
              <a:t>10 ~ 20만원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43600" y="5934456"/>
            <a:ext cx="5852160" cy="475488"/>
          </a:xfrm>
          <a:prstGeom prst="rect">
            <a:avLst/>
          </a:prstGeom>
          <a:solidFill>
            <a:srgbClr val="833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80760" y="60167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합 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61120" y="60167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30 ~ 50만원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천호앤케어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D6A7"/>
                </a:solidFill>
              </a:rPr>
              <a:t>Japan Qoo10 마케팅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X (구 Twitter) 마케팅 전략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594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E6C9"/>
                </a:solidFill>
              </a:rPr>
              <a:t>일본 시장 특화 – 리뷰 확산에 가장 유리한 채널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0" y="6629400"/>
            <a:ext cx="758952" cy="228600"/>
          </a:xfrm>
          <a:prstGeom prst="rect">
            <a:avLst/>
          </a:prstGeom>
          <a:solidFill>
            <a:srgbClr val="6AB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5303520" cy="53035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143000"/>
            <a:ext cx="5303520" cy="411480"/>
          </a:xfrm>
          <a:prstGeom prst="rect">
            <a:avLst/>
          </a:prstGeom>
          <a:solidFill>
            <a:srgbClr val="147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1704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X 채널 강점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691640"/>
            <a:ext cx="512064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691640"/>
            <a:ext cx="54864" cy="1024128"/>
          </a:xfrm>
          <a:prstGeom prst="rect">
            <a:avLst/>
          </a:prstGeom>
          <a:solidFill>
            <a:srgbClr val="147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7647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71DA"/>
                </a:solidFill>
              </a:rPr>
              <a:t>일본 최대 SNS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12140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인스타그램보다 리뷰 확산 속도 빠름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807208"/>
            <a:ext cx="512064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807208"/>
            <a:ext cx="54864" cy="1024128"/>
          </a:xfrm>
          <a:prstGeom prst="rect">
            <a:avLst/>
          </a:prstGeom>
          <a:solidFill>
            <a:srgbClr val="147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8803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71DA"/>
                </a:solidFill>
              </a:rPr>
              <a:t>카테고리 반응 우수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36976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飲む日焼け止め・白トマト
レモン汁 카테고리 높은 반응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922776"/>
            <a:ext cx="512064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922776"/>
            <a:ext cx="54864" cy="1024128"/>
          </a:xfrm>
          <a:prstGeom prst="rect">
            <a:avLst/>
          </a:prstGeom>
          <a:solidFill>
            <a:srgbClr val="147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99592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71DA"/>
                </a:solidFill>
              </a:rPr>
              <a:t>RT 바이럴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352544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팔로우&amp;RT 캠페인으로
폭발적 확산 가능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038344"/>
            <a:ext cx="512064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5038344"/>
            <a:ext cx="54864" cy="1024128"/>
          </a:xfrm>
          <a:prstGeom prst="rect">
            <a:avLst/>
          </a:prstGeom>
          <a:solidFill>
            <a:srgbClr val="147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11149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71DA"/>
                </a:solidFill>
              </a:rPr>
              <a:t>저비용 고효율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46811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Premium 구독 + 소규모 광고로
대형 채널 효과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0" y="1143000"/>
            <a:ext cx="6035040" cy="24688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52160" y="1143000"/>
            <a:ext cx="6035040" cy="411480"/>
          </a:xfrm>
          <a:prstGeom prst="rect">
            <a:avLst/>
          </a:prstGeom>
          <a:solidFill>
            <a:srgbClr val="147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89320" y="117043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캠페인 운영 방식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169164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71DA"/>
                </a:solidFill>
              </a:rPr>
              <a:t>フォロー＆RPキャンペーン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2176272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팔로우 + 리트윗 조건 응모
경품 제공으로 참여 유도
당선자 UGC 활용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2160" y="3749039"/>
            <a:ext cx="6035040" cy="2697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852160" y="3749039"/>
            <a:ext cx="6035040" cy="411480"/>
          </a:xfrm>
          <a:prstGeom prst="rect">
            <a:avLst/>
          </a:prstGeom>
          <a:solidFill>
            <a:srgbClr val="0D4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89320" y="377647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예산 구성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4251960"/>
            <a:ext cx="5852160" cy="420624"/>
          </a:xfrm>
          <a:prstGeom prst="rect">
            <a:avLst/>
          </a:prstGeom>
          <a:solidFill>
            <a:srgbClr val="0D4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431596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항목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431596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예산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4727448"/>
            <a:ext cx="585216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80760" y="479145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X Premium 구독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479145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33333"/>
                </a:solidFill>
              </a:rPr>
              <a:t>약 1만원/월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5202936"/>
            <a:ext cx="5852160" cy="420624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0760" y="526694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광고 집행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0" y="526694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33333"/>
                </a:solidFill>
              </a:rPr>
              <a:t>5 ~ 10만원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0" y="5678424"/>
            <a:ext cx="585216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80760" y="574243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경품 비용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574243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33333"/>
                </a:solidFill>
              </a:rPr>
              <a:t>5 ~ 10만원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0" y="6153912"/>
            <a:ext cx="5852160" cy="420624"/>
          </a:xfrm>
          <a:prstGeom prst="rect">
            <a:avLst/>
          </a:prstGeom>
          <a:solidFill>
            <a:srgbClr val="147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80760" y="62179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합 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61120" y="621792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10 ~ 20만원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천호앤케어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D6A7"/>
                </a:solidFill>
              </a:rPr>
              <a:t>Japan Qoo10 마케팅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추천 예산안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594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E6C9"/>
                </a:solidFill>
              </a:rPr>
              <a:t>월 100만원 / 150만원 / 200만원 3가지 플랜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0" y="6629400"/>
            <a:ext cx="758952" cy="228600"/>
          </a:xfrm>
          <a:prstGeom prst="rect">
            <a:avLst/>
          </a:prstGeom>
          <a:solidFill>
            <a:srgbClr val="6AB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3657600" cy="53035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43000"/>
            <a:ext cx="3657600" cy="73152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17043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BASIC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4813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D6A7"/>
                </a:solidFill>
              </a:rPr>
              <a:t>월 100만원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011680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468880"/>
            <a:ext cx="1389888" cy="16459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057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Qoo10 광고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057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E8648"/>
                </a:solidFill>
              </a:rPr>
              <a:t>40만원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788920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246120"/>
            <a:ext cx="1389888" cy="16459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834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Instagram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2834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E8648"/>
                </a:solidFill>
              </a:rPr>
              <a:t>40만원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566160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023360"/>
            <a:ext cx="694944" cy="16459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611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3611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E8648"/>
                </a:solidFill>
              </a:rPr>
              <a:t>20만원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343400"/>
            <a:ext cx="3474720" cy="54864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389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합계: 100만원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9834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</a:rPr>
              <a:t>초기 시장 진입
핵심 채널 집중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1143000"/>
            <a:ext cx="3657600" cy="53035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7680" y="1143000"/>
            <a:ext cx="3657600" cy="73152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117043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14813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D6A7"/>
                </a:solidFill>
              </a:rPr>
              <a:t>월 150만원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2011680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89120" y="2468880"/>
            <a:ext cx="1389888" cy="164592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2057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Qoo10 광고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2057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5C38"/>
                </a:solidFill>
              </a:rPr>
              <a:t>60만원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0" y="2788920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89120" y="3246120"/>
            <a:ext cx="1274063" cy="164592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26280" y="2834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Instagram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2834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5C38"/>
                </a:solidFill>
              </a:rPr>
              <a:t>55만원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120" y="3566160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89120" y="4023360"/>
            <a:ext cx="810768" cy="164592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26280" y="3611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3611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5C38"/>
                </a:solidFill>
              </a:rPr>
              <a:t>35만원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89120" y="4343400"/>
            <a:ext cx="3474720" cy="54864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26280" y="4389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합계: 150만원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34840" y="49834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</a:rPr>
              <a:t>균형 잡힌 멀티채널
크루 모집 본격화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0" y="1143000"/>
            <a:ext cx="3657600" cy="53035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29600" y="1143000"/>
            <a:ext cx="3657600" cy="731520"/>
          </a:xfrm>
          <a:prstGeom prst="rect">
            <a:avLst/>
          </a:prstGeom>
          <a:solidFill>
            <a:srgbClr val="0D3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66760" y="117043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PREMIUM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60" y="14813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D6A7"/>
                </a:solidFill>
              </a:rPr>
              <a:t>월 200만원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21040" y="2011680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321040" y="2468880"/>
            <a:ext cx="1389888" cy="164592"/>
          </a:xfrm>
          <a:prstGeom prst="rect">
            <a:avLst/>
          </a:prstGeom>
          <a:solidFill>
            <a:srgbClr val="0D3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58200" y="2057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Qoo10 광고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2057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D3D20"/>
                </a:solidFill>
              </a:rPr>
              <a:t>80만원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21040" y="2788920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321040" y="3246120"/>
            <a:ext cx="1216151" cy="164592"/>
          </a:xfrm>
          <a:prstGeom prst="rect">
            <a:avLst/>
          </a:prstGeom>
          <a:solidFill>
            <a:srgbClr val="0D3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58200" y="2834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Instagram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2834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D3D20"/>
                </a:solidFill>
              </a:rPr>
              <a:t>70만원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21040" y="3566160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321040" y="4023360"/>
            <a:ext cx="868680" cy="164592"/>
          </a:xfrm>
          <a:prstGeom prst="rect">
            <a:avLst/>
          </a:prstGeom>
          <a:solidFill>
            <a:srgbClr val="0D3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58200" y="3611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X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3611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D3D20"/>
                </a:solidFill>
              </a:rPr>
              <a:t>50만원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21040" y="4343400"/>
            <a:ext cx="3474720" cy="548640"/>
          </a:xfrm>
          <a:prstGeom prst="rect">
            <a:avLst/>
          </a:prstGeom>
          <a:solidFill>
            <a:srgbClr val="0D3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58200" y="4389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합계: 200만원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66760" y="49834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</a:rPr>
              <a:t>공격적 시장 확대
브랜드 인지도 극대화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천호앤케어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D6A7"/>
                </a:solidFill>
              </a:rPr>
              <a:t>Japan Qoo10 마케팅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권장 운영 전략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594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E6C9"/>
                </a:solidFill>
              </a:rPr>
              <a:t>초기 3개월 채널 비중 배분 &amp; 시즌 전략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0" y="6629400"/>
            <a:ext cx="758952" cy="228600"/>
          </a:xfrm>
          <a:prstGeom prst="rect">
            <a:avLst/>
          </a:prstGeom>
          <a:solidFill>
            <a:srgbClr val="6AB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5486400" cy="53035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143000"/>
            <a:ext cx="5486400" cy="41148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1704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초기 3개월 채널 비중 (권장)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C38"/>
                </a:solidFill>
              </a:rPr>
              <a:t>Qoo10 광고  40%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148840"/>
            <a:ext cx="4937760" cy="2560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148840"/>
            <a:ext cx="1975104" cy="256032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4871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직접 매출 전환 · 전환율 최우선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154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Instagram  35%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566160"/>
            <a:ext cx="4937760" cy="2560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566160"/>
            <a:ext cx="1728216" cy="25603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9044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크루 모집 · UGC 콘텐츠 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AB04C"/>
                </a:solidFill>
              </a:rPr>
              <a:t>X (Twitter)  25%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983480"/>
            <a:ext cx="4937760" cy="2560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983480"/>
            <a:ext cx="1234440" cy="256032"/>
          </a:xfrm>
          <a:prstGeom prst="rect">
            <a:avLst/>
          </a:prstGeom>
          <a:solidFill>
            <a:srgbClr val="6AB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53218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리뷰 확산 · 바이럴 구축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897880"/>
            <a:ext cx="5303520" cy="438912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9436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Qoo10 40%  →  Instagram 35%  →  X 25%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1143000"/>
            <a:ext cx="585216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35040" y="1143000"/>
            <a:ext cx="5852160" cy="411480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117043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☀️ 여름 시즌 집중 전략 (6~9월)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169164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700"/>
                </a:solidFill>
              </a:rPr>
              <a:t>화이트토마토 (飲む日焼け止め)
여름 시즌 검색량 급증 카테고리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2514600"/>
            <a:ext cx="56692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25694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700"/>
                </a:solidFill>
              </a:rPr>
              <a:t>일반 시즌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287121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키워드 플러스 예산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27157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5C38"/>
                </a:solidFill>
              </a:rPr>
              <a:t>20 ~ 30만원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3337560"/>
            <a:ext cx="5669280" cy="7498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33924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700"/>
                </a:solidFill>
              </a:rPr>
              <a:t>여름 시즌 (6~9월)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69417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키워드 플러스 예산 확대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353872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5C38"/>
                </a:solidFill>
              </a:rPr>
              <a:t>50 ~ 70만원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4160520"/>
            <a:ext cx="56692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215383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700"/>
                </a:solidFill>
              </a:rPr>
              <a:t>증가 효과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451713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예산 대비 노출 증가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43616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5C38"/>
                </a:solidFill>
              </a:rPr>
              <a:t>+150% 이상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5029200"/>
            <a:ext cx="5669280" cy="1280160"/>
          </a:xfrm>
          <a:prstGeom prst="rect">
            <a:avLst/>
          </a:prstGeom>
          <a:solidFill>
            <a:srgbClr val="FF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50749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💡 전략 요약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544068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Qoo10은 직접 매출 전환 채널
Instagram · X는 크루 모집을 통한
UGC 및 리뷰 콘텐츠 축적 역할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천호앤케어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D6A7"/>
                </a:solidFill>
              </a:rPr>
              <a:t>Japan Qoo10 마케팅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실행 로드맵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594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E6C9"/>
                </a:solidFill>
              </a:rPr>
              <a:t>단계별 마케팅 실행 계획 – 초기 3개월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0" y="6629400"/>
            <a:ext cx="758952" cy="228600"/>
          </a:xfrm>
          <a:prstGeom prst="rect">
            <a:avLst/>
          </a:prstGeom>
          <a:solidFill>
            <a:srgbClr val="6AB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3657600" cy="53035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43000"/>
            <a:ext cx="3657600" cy="82296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1704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1개월차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50876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기반 구축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34747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103120"/>
            <a:ext cx="54864" cy="749808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2677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Qoo10 키워드 플러스 세팅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944368"/>
            <a:ext cx="34747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944368"/>
            <a:ext cx="54864" cy="749808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108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파워 링크업 3개 상품 등록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85615"/>
            <a:ext cx="34747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785615"/>
            <a:ext cx="54864" cy="749808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950207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Instagram 계정 활성화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626864"/>
            <a:ext cx="34747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626864"/>
            <a:ext cx="54864" cy="749808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79145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X Premium 구독 시작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468112"/>
            <a:ext cx="34747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468112"/>
            <a:ext cx="54864" cy="749808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63270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크루 모집 공고 게시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1143000"/>
            <a:ext cx="3657600" cy="53035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7680" y="1143000"/>
            <a:ext cx="3657600" cy="82296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11704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2개월차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150876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본격 운영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2103120"/>
            <a:ext cx="34747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89120" y="2103120"/>
            <a:ext cx="54864" cy="749808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22677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키워드 플러스 성과 분석 &amp; 최적화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0" y="2944368"/>
            <a:ext cx="34747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89120" y="2944368"/>
            <a:ext cx="54864" cy="749808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3108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크루 1차 선발 &amp; 제품 발송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0" y="3785615"/>
            <a:ext cx="34747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89120" y="3785615"/>
            <a:ext cx="54864" cy="749808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26280" y="3950207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Instagram 릴스·스토리 UGC 수집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0" y="4626864"/>
            <a:ext cx="34747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89120" y="4626864"/>
            <a:ext cx="54864" cy="749808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26280" y="479145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X フォロー＆RPキャンペーン 실시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89120" y="5468112"/>
            <a:ext cx="34747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89120" y="5468112"/>
            <a:ext cx="54864" cy="749808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26280" y="563270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Meta 광고 타겟 데이터 분석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0" y="1143000"/>
            <a:ext cx="3657600" cy="53035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29600" y="1143000"/>
            <a:ext cx="3657600" cy="822960"/>
          </a:xfrm>
          <a:prstGeom prst="rect">
            <a:avLst/>
          </a:prstGeom>
          <a:solidFill>
            <a:srgbClr val="6AB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66760" y="11704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3개월차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60" y="150876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확장 &amp; 최적화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21040" y="2103120"/>
            <a:ext cx="34747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321040" y="2103120"/>
            <a:ext cx="54864" cy="749808"/>
          </a:xfrm>
          <a:prstGeom prst="rect">
            <a:avLst/>
          </a:prstGeom>
          <a:solidFill>
            <a:srgbClr val="6AB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58200" y="22677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여름 시즌 대비 예산 증액 검토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21040" y="2944368"/>
            <a:ext cx="34747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321040" y="2944368"/>
            <a:ext cx="54864" cy="749808"/>
          </a:xfrm>
          <a:prstGeom prst="rect">
            <a:avLst/>
          </a:prstGeom>
          <a:solidFill>
            <a:srgbClr val="6AB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58200" y="3108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UGC 콘텐츠 Qoo10 페이지 활용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21040" y="3785615"/>
            <a:ext cx="34747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321040" y="3785615"/>
            <a:ext cx="54864" cy="749808"/>
          </a:xfrm>
          <a:prstGeom prst="rect">
            <a:avLst/>
          </a:prstGeom>
          <a:solidFill>
            <a:srgbClr val="6AB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58200" y="3950207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크루 2차 확대 모집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21040" y="4626864"/>
            <a:ext cx="34747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321040" y="4626864"/>
            <a:ext cx="54864" cy="749808"/>
          </a:xfrm>
          <a:prstGeom prst="rect">
            <a:avLst/>
          </a:prstGeom>
          <a:solidFill>
            <a:srgbClr val="6AB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58200" y="479145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자연 검색 유입 지표 확인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21040" y="5468112"/>
            <a:ext cx="34747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321040" y="5468112"/>
            <a:ext cx="54864" cy="749808"/>
          </a:xfrm>
          <a:prstGeom prst="rect">
            <a:avLst/>
          </a:prstGeom>
          <a:solidFill>
            <a:srgbClr val="6AB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58200" y="563270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다음 분기 예산 재조정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57200"/>
            <a:ext cx="3657600" cy="3657600"/>
          </a:xfrm>
          <a:prstGeom prst="ellipse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4572000"/>
            <a:ext cx="2743200" cy="2743200"/>
          </a:xfrm>
          <a:prstGeom prst="ellipse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914400"/>
            <a:ext cx="109728" cy="4572000"/>
          </a:xfrm>
          <a:prstGeom prst="rect">
            <a:avLst/>
          </a:prstGeom>
          <a:solidFill>
            <a:srgbClr val="6AB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기대 효과 &amp; 결론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5544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5D6A7"/>
                </a:solidFill>
              </a:rPr>
              <a:t>천호앤케어 Japan Qoo10 마케팅 예산 운영 제안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2194560"/>
            <a:ext cx="4754880" cy="1828800"/>
          </a:xfrm>
          <a:prstGeom prst="rect">
            <a:avLst/>
          </a:prstGeom>
          <a:solidFill>
            <a:srgbClr val="1F6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20" y="2194560"/>
            <a:ext cx="4754880" cy="54864"/>
          </a:xfrm>
          <a:prstGeom prst="rect">
            <a:avLst/>
          </a:prstGeom>
          <a:solidFill>
            <a:srgbClr val="6AB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33172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📊 검색 노출 상승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88920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E6C9"/>
                </a:solidFill>
              </a:rPr>
              <a:t>키워드 플러스 + 파워 링크업으로
Qoo10 내 상위 노출 확보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2194560"/>
            <a:ext cx="4754880" cy="1828800"/>
          </a:xfrm>
          <a:prstGeom prst="rect">
            <a:avLst/>
          </a:prstGeom>
          <a:solidFill>
            <a:srgbClr val="1F6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2194560"/>
            <a:ext cx="4754880" cy="54864"/>
          </a:xfrm>
          <a:prstGeom prst="rect">
            <a:avLst/>
          </a:prstGeom>
          <a:solidFill>
            <a:srgbClr val="6AB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33172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💬 UGC 콘텐츠 축적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788920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E6C9"/>
                </a:solidFill>
              </a:rPr>
              <a:t>크루 모집을 통한 리뷰 자산 확보
장기적 자연 유입 기반 구축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4297679"/>
            <a:ext cx="4754880" cy="1828800"/>
          </a:xfrm>
          <a:prstGeom prst="rect">
            <a:avLst/>
          </a:prstGeom>
          <a:solidFill>
            <a:srgbClr val="1F6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88720" y="4297679"/>
            <a:ext cx="4754880" cy="54864"/>
          </a:xfrm>
          <a:prstGeom prst="rect">
            <a:avLst/>
          </a:prstGeom>
          <a:solidFill>
            <a:srgbClr val="6AB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43484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🌸 일본 여성 팬덤 형성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892040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E6C9"/>
                </a:solidFill>
              </a:rPr>
              <a:t>Instagram · X 동시 운영으로
브랜드 인지도 및 충성 고객 확보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4297679"/>
            <a:ext cx="4754880" cy="1828800"/>
          </a:xfrm>
          <a:prstGeom prst="rect">
            <a:avLst/>
          </a:prstGeom>
          <a:solidFill>
            <a:srgbClr val="1F6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4297679"/>
            <a:ext cx="4754880" cy="54864"/>
          </a:xfrm>
          <a:prstGeom prst="rect">
            <a:avLst/>
          </a:prstGeom>
          <a:solidFill>
            <a:srgbClr val="6AB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43484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📉 광고 의존도 감소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892040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E6C9"/>
                </a:solidFill>
              </a:rPr>
              <a:t>초기 유료 광고 → 오가닉 전환
지속 가능한 마케팅 구조 완성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62179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1C784"/>
                </a:solidFill>
              </a:rPr>
              <a:t>문의 · 제안 검토 후 추가 조율 가능합니다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